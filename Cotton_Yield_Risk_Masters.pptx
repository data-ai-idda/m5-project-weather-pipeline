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11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59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1EFE7"/>
                </a:solidFill>
                <a:latin typeface="Georgia"/>
              </a:defRPr>
            </a:pPr>
            <a:r>
              <a:rPr lang="en-US" sz="1300" b="0" i="0" u="none" strike="noStrike" dirty="0">
                <a:solidFill>
                  <a:srgbClr val="F1EFE7"/>
                </a:solidFill>
                <a:latin typeface="Georgia"/>
              </a:rPr>
              <a:t>Predicted Yield  by District (</a:t>
            </a:r>
            <a:r>
              <a:rPr lang="en-US" sz="1300" b="0" i="0" u="none" strike="noStrike" dirty="0" err="1">
                <a:solidFill>
                  <a:srgbClr val="F1EFE7"/>
                </a:solidFill>
                <a:latin typeface="Georgia"/>
              </a:rPr>
              <a:t>tonnes</a:t>
            </a:r>
            <a:r>
              <a:rPr lang="en-US" sz="1300" b="0" i="0" u="none" strike="noStrike" dirty="0">
                <a:solidFill>
                  <a:srgbClr val="F1EFE7"/>
                </a:solidFill>
                <a:latin typeface="Georgia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Predicted Yield (tonnes)</c:v>
                </c:pt>
              </c:strCache>
            </c:strRef>
          </c:tx>
          <c:spPr>
            <a:solidFill>
              <a:srgbClr val="D4A5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1EFE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Yevlakh</c:v>
                </c:pt>
                <c:pt idx="1">
                  <c:v>Barda</c:v>
                </c:pt>
                <c:pt idx="2">
                  <c:v>Tartar</c:v>
                </c:pt>
                <c:pt idx="3">
                  <c:v>Saatli</c:v>
                </c:pt>
                <c:pt idx="4">
                  <c:v>Beylagan</c:v>
                </c:pt>
                <c:pt idx="5">
                  <c:v>Aghjabadi</c:v>
                </c:pt>
                <c:pt idx="6">
                  <c:v>Goranboy</c:v>
                </c:pt>
                <c:pt idx="7">
                  <c:v>Imishli</c:v>
                </c:pt>
                <c:pt idx="8">
                  <c:v>Bilasuvar</c:v>
                </c:pt>
                <c:pt idx="9">
                  <c:v>Salyan</c:v>
                </c:pt>
                <c:pt idx="10">
                  <c:v>Aghdam</c:v>
                </c:pt>
                <c:pt idx="11">
                  <c:v>Sabirabad</c:v>
                </c:pt>
                <c:pt idx="12">
                  <c:v>Neftchala</c:v>
                </c:pt>
                <c:pt idx="13">
                  <c:v>Zardab</c:v>
                </c:pt>
                <c:pt idx="14">
                  <c:v>Kurdamir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24.4</c:v>
                </c:pt>
                <c:pt idx="1">
                  <c:v>24</c:v>
                </c:pt>
                <c:pt idx="2">
                  <c:v>23.5</c:v>
                </c:pt>
                <c:pt idx="3">
                  <c:v>21.3</c:v>
                </c:pt>
                <c:pt idx="4">
                  <c:v>21.1</c:v>
                </c:pt>
                <c:pt idx="5">
                  <c:v>21</c:v>
                </c:pt>
                <c:pt idx="6">
                  <c:v>19.399999999999999</c:v>
                </c:pt>
                <c:pt idx="7">
                  <c:v>18.7</c:v>
                </c:pt>
                <c:pt idx="8">
                  <c:v>18.5</c:v>
                </c:pt>
                <c:pt idx="9">
                  <c:v>18.3</c:v>
                </c:pt>
                <c:pt idx="10">
                  <c:v>17.899999999999999</c:v>
                </c:pt>
                <c:pt idx="11">
                  <c:v>16.600000000000001</c:v>
                </c:pt>
                <c:pt idx="12">
                  <c:v>15.5</c:v>
                </c:pt>
                <c:pt idx="13">
                  <c:v>14.1</c:v>
                </c:pt>
                <c:pt idx="14">
                  <c:v>13.4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CC-4C52-9829-C2902E54B6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8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D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8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A1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2A1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9010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-meteo.com/en/docs/historical-weather-ap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sliehmedova/agriculture-cotton-yield-predi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AZERBAIJAN  ·  AGRICULTURE  ·  ML FORECAST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Cotton Yield &amp;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Prediction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next year yield for 15 districts of Azerbaijan using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years of historical weather and production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1EF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 MASTERS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members · Data Engineering, Features, ML,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0" y="5852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8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" cy="10972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 and why it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384048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394960" cy="73152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GOAL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 year cotton yield and identify stage-level agronomic risk for 15 districts across Azerbaijan, with a focus on the flowering stage where night temperature is the dominant driver of yield outcomes.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375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200400" y="4572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district-year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384048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828800"/>
            <a:ext cx="5394960" cy="73152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7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 IT  MATTERS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2587752"/>
            <a:ext cx="182880" cy="182880"/>
          </a:xfrm>
          <a:prstGeom prst="ellipse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crop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2280" y="28072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is one of Azerbaijan's key non-oil exports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3364992"/>
            <a:ext cx="182880" cy="182880"/>
          </a:xfrm>
          <a:prstGeom prst="ellipse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Weather-driven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35844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is highly sensitive to temperature and rainfall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4142232"/>
            <a:ext cx="182880" cy="182880"/>
          </a:xfrm>
          <a:prstGeom prst="ellipse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value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43616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help farmers, exporters, and planners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4919472"/>
            <a:ext cx="182880" cy="182880"/>
          </a:xfrm>
          <a:prstGeom prst="ellipse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51389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warnings allow preventive action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MASTERS  ·  COTTON YIELD INTELLIGENCE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" cy="10972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TEAM  &amp;  ROLES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Masters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80060" y="1828800"/>
            <a:ext cx="2697480" cy="384048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060" y="1828800"/>
            <a:ext cx="2697480" cy="10972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5438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ENGINEER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4380" y="3429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Ahmadova Esli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80" y="4160520"/>
            <a:ext cx="548640" cy="0"/>
          </a:xfrm>
          <a:prstGeom prst="line">
            <a:avLst/>
          </a:prstGeom>
          <a:noFill/>
          <a:ln w="25400">
            <a:solidFill>
              <a:srgbClr val="D4A5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" y="4343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integration, cleaning,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4700" y="1828800"/>
            <a:ext cx="2697480" cy="384048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1828800"/>
            <a:ext cx="2697480" cy="10972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902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4A7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58902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7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ENGINEER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89020" y="3429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Dirayeva Narmin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89020" y="4160520"/>
            <a:ext cx="548640" cy="0"/>
          </a:xfrm>
          <a:prstGeom prst="line">
            <a:avLst/>
          </a:prstGeom>
          <a:noFill/>
          <a:ln w="25400">
            <a:solidFill>
              <a:srgbClr val="4A7C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9020" y="4343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stages, GDD,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logic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9340" y="1828800"/>
            <a:ext cx="2697480" cy="384048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9340" y="1828800"/>
            <a:ext cx="2697480" cy="10972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42366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4B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ENGINEER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23660" y="3429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Gasimova Khaver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23660" y="4160520"/>
            <a:ext cx="548640" cy="0"/>
          </a:xfrm>
          <a:prstGeom prst="line">
            <a:avLst/>
          </a:prstGeom>
          <a:noFill/>
          <a:ln w="25400">
            <a:solidFill>
              <a:srgbClr val="C84B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3660" y="4343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validation,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83980" y="1828800"/>
            <a:ext cx="2697480" cy="384048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83980" y="1828800"/>
            <a:ext cx="2697480" cy="10972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583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925830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ANALYST &amp; VISUALIZER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58300" y="3429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Aliyeva Ulviyye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58300" y="4160520"/>
            <a:ext cx="548640" cy="0"/>
          </a:xfrm>
          <a:prstGeom prst="line">
            <a:avLst/>
          </a:prstGeom>
          <a:noFill/>
          <a:ln w="25400">
            <a:solidFill>
              <a:srgbClr val="D4A5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58300" y="4343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dashboard,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MASTERS  ·  COTTON YIELD INTELLIGENCE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" cy="10972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DATA 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integrated datasets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00" cy="73152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Cotton Production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yield in tonnes per district, 2000 – 2024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districts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4612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4612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cleaning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7724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years of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4480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4612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rows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5303520" cy="402336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828800"/>
            <a:ext cx="5303520" cy="73152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7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TWO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(Open-Meteo API)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weather per district via direct GPS coordinates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3429000"/>
            <a:ext cx="45720" cy="20116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383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Average, lowest, highest daily temperature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3794760"/>
            <a:ext cx="45720" cy="20116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749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rainfall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4160520"/>
            <a:ext cx="45720" cy="20116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114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humidity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4526280"/>
            <a:ext cx="45720" cy="20116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4480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4892040"/>
            <a:ext cx="45720" cy="20116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846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loss rate (evapotranspiration)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37960" y="5257800"/>
            <a:ext cx="45720" cy="20116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5212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sunshine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MASTERS  ·  COTTON YIELD INTELLIGENCE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" cy="10972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DATASET  INTEGRATION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two datasets connect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926080" cy="1463040"/>
          </a:xfrm>
          <a:prstGeom prst="rect">
            <a:avLst/>
          </a:prstGeom>
          <a:solidFill>
            <a:srgbClr val="1A2A1F"/>
          </a:solidFill>
          <a:ln w="25400">
            <a:solidFill>
              <a:srgbClr val="D4A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COTTON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Goranboy district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 = 12.3 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4160520" y="2194560"/>
            <a:ext cx="2926080" cy="1463040"/>
          </a:xfrm>
          <a:prstGeom prst="rect">
            <a:avLst/>
          </a:prstGeom>
          <a:solidFill>
            <a:srgbClr val="1A2A1F"/>
          </a:solidFill>
          <a:ln w="25400">
            <a:solidFill>
              <a:srgbClr val="4A7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4A7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Goranboy district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 ·  365 daily rows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aggregated by stage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7772400" y="2194560"/>
            <a:ext cx="3840480" cy="1463040"/>
          </a:xfrm>
          <a:prstGeom prst="rect">
            <a:avLst/>
          </a:prstGeom>
          <a:solidFill>
            <a:srgbClr val="243A2C"/>
          </a:solidFill>
          <a:ln w="25400">
            <a:solidFill>
              <a:srgbClr val="D4A5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 TRAINING  ROW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+ 42 weather features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that district  ·  for that year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375 rows total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datasets are joined by district name + year. For every (district × year) pair, we attach that year's daily weather, aggregated into three growth stage windows. The result is one row per district per year — a compact, leak-free training set with 15 districts × 25 years = 375 examples.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MASTERS  ·  COTTON YIELD INTELLIGENCE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" cy="10972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GROWTH  STAGES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biologically distinct windows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3657600" cy="420624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4A7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7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DOY 152 – 195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 – Jul 14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3200400" cy="0"/>
          </a:xfrm>
          <a:prstGeom prst="line">
            <a:avLst/>
          </a:prstGeom>
          <a:noFill/>
          <a:ln w="12700">
            <a:solidFill>
              <a:srgbClr val="2D3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062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buds form on the plant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920240"/>
            <a:ext cx="3657600" cy="4206240"/>
          </a:xfrm>
          <a:prstGeom prst="rect">
            <a:avLst/>
          </a:prstGeom>
          <a:solidFill>
            <a:srgbClr val="243A2C"/>
          </a:solidFill>
          <a:ln w="25400">
            <a:solidFill>
              <a:srgbClr val="D4A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537960" y="2194560"/>
            <a:ext cx="1143000" cy="274320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B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788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Flowering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48056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DOY 196 – 243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15 – Aug 31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80560" y="4023360"/>
            <a:ext cx="3200400" cy="0"/>
          </a:xfrm>
          <a:prstGeom prst="line">
            <a:avLst/>
          </a:prstGeom>
          <a:noFill/>
          <a:ln w="12700">
            <a:solidFill>
              <a:srgbClr val="2D3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42062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Bolls set under the flowers — the most critical stage. High night temperatures here cause boll shedding and yield loss.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83880" y="1920240"/>
            <a:ext cx="3657600" cy="420624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4A7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412480" y="2788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Bolling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41248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7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DOY 244 – 288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 – Oct 15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412480" y="4023360"/>
            <a:ext cx="3200400" cy="0"/>
          </a:xfrm>
          <a:prstGeom prst="line">
            <a:avLst/>
          </a:prstGeom>
          <a:noFill/>
          <a:ln w="12700">
            <a:solidFill>
              <a:srgbClr val="2D3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42062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Bolls open, cotton becomes harvest-ready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MASTERS  ·  COTTON YIELD INTELLIGENCE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" cy="10972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MODELING 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 Mean + Nested-CV 1-Feature Ridge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486400" cy="73152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 IDEA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EF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yield_anomaly = yield − district_mean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70% of yield variance is just "which district" — Barda always yields more than Neftchala regardless of weather. By subtracting each district's historical mean, we remove this baseline and make the model learn weather effects only.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663440"/>
            <a:ext cx="1188720" cy="914400"/>
          </a:xfrm>
          <a:prstGeom prst="rect">
            <a:avLst/>
          </a:prstGeom>
          <a:solidFill>
            <a:srgbClr val="243A2C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663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LOYO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7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4937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423160" y="4663440"/>
            <a:ext cx="1371600" cy="914400"/>
          </a:xfrm>
          <a:prstGeom prst="rect">
            <a:avLst/>
          </a:prstGeom>
          <a:solidFill>
            <a:srgbClr val="243A2C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4663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LOYO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7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4937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251960" y="4663440"/>
            <a:ext cx="1554480" cy="914400"/>
          </a:xfrm>
          <a:prstGeom prst="rect">
            <a:avLst/>
          </a:prstGeom>
          <a:solidFill>
            <a:srgbClr val="243A2C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4663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920240"/>
            <a:ext cx="5303520" cy="411480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920240"/>
            <a:ext cx="5303520" cy="73152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7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 SPECIFICATION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9244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RidgeCV (alphas 0.1, 1, 10, 100)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9244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yield_anomaly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9244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Leave-One-Year-Out (LOYO)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LOOP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9244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LOYO selecting 1 feature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4434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92440" y="4434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districts × 25 years = 275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4892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EXCLUDED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92440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climatically distinct districts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37960" y="5349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FEATURE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9244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bolling_wind_mean (19/22 folds)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MASTERS  ·  COTTON YIELD INTELLIGENCE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" cy="10972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·  MODELING  JOURNEY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tried before the final approach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2044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3504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64240" cy="0"/>
          </a:xfrm>
          <a:prstGeom prst="line">
            <a:avLst/>
          </a:prstGeom>
          <a:noFill/>
          <a:ln w="12700">
            <a:solidFill>
              <a:srgbClr val="2D3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yield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B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 R²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2606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worse than guessing the mean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12700">
            <a:solidFill>
              <a:srgbClr val="2D3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192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319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B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0.74 / Test −1.45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33192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great but only learned autocorrelation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11064240" cy="0"/>
          </a:xfrm>
          <a:prstGeom prst="line">
            <a:avLst/>
          </a:prstGeom>
          <a:noFill/>
          <a:ln w="12700">
            <a:solidFill>
              <a:srgbClr val="2D3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325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Z-scored weather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40325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B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still negative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40325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 not solved by scaling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72584"/>
            <a:ext cx="11064240" cy="0"/>
          </a:xfrm>
          <a:prstGeom prst="line">
            <a:avLst/>
          </a:prstGeom>
          <a:noFill/>
          <a:ln w="12700">
            <a:solidFill>
              <a:srgbClr val="2D3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457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anomaly target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47457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0.07 → 0.24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474573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district noise, exposed weather signal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85816"/>
            <a:ext cx="11064240" cy="0"/>
          </a:xfrm>
          <a:prstGeom prst="line">
            <a:avLst/>
          </a:prstGeom>
          <a:noFill/>
          <a:ln w="12700">
            <a:solidFill>
              <a:srgbClr val="2D3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5413248"/>
            <a:ext cx="54864" cy="594360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458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Nested-CV 1-feature Ridge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0440" y="5458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 R² 0.07 / 0.24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0" y="54589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simple, reproducible — teacher's recommendation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243A2C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Simpler beat complex.  One feature on yield anomaly outperformed every multi-feature model.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MASTERS  ·  COTTON YIELD INTELLIGENCE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" cy="10972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·  RESULTS  &amp;  PREDICTIONS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for 15 districts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7492" y="1874520"/>
            <a:ext cx="2697480" cy="128016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492" y="1874520"/>
            <a:ext cx="2697480" cy="73152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263 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90372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predicted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23844" y="1874520"/>
            <a:ext cx="2697480" cy="128016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23844" y="1874520"/>
            <a:ext cx="2697480" cy="73152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6724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A7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+39.5%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06724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historical avg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0196" y="1874520"/>
            <a:ext cx="2697480" cy="128016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0196" y="1874520"/>
            <a:ext cx="2697480" cy="73152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3076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23076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R² stable years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56548" y="1874520"/>
            <a:ext cx="2697480" cy="128016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56548" y="1874520"/>
            <a:ext cx="2697480" cy="73152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9428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A7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6.1t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139428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absolute error</a:t>
            </a:r>
            <a:endParaRPr lang="en-US" sz="1100" dirty="0"/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3552830751"/>
              </p:ext>
            </p:extLst>
          </p:nvPr>
        </p:nvGraphicFramePr>
        <p:xfrm>
          <a:off x="548640" y="3337560"/>
          <a:ext cx="11064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MASTERS  ·  COTTON YIELD INTELLIGENCE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" cy="10972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·  RISK  SCORES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predict stage-level risk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3657600" cy="420624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920240"/>
            <a:ext cx="3657600" cy="73152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40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risk score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1645920" cy="292608"/>
          </a:xfrm>
          <a:prstGeom prst="rect">
            <a:avLst/>
          </a:prstGeom>
          <a:solidFill>
            <a:srgbClr val="243A2C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023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100 %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5262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formula per stage based on agronomic knowledge — flowering risk weights night temperature 45% (boll shedding driver).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1920240"/>
            <a:ext cx="3657600" cy="420624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920240"/>
            <a:ext cx="3657600" cy="73152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240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452628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 to binary label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26280" y="4023360"/>
            <a:ext cx="1645920" cy="292608"/>
          </a:xfrm>
          <a:prstGeom prst="rect">
            <a:avLst/>
          </a:prstGeom>
          <a:solidFill>
            <a:srgbClr val="243A2C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4023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/ 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45262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60th percentile from training data only. Anything above is risky, below is safe. No leakage from test set into labels.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83880" y="1920240"/>
            <a:ext cx="3657600" cy="420624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1920240"/>
            <a:ext cx="3657600" cy="73152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2240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84582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582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Random Forest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458200" y="4023360"/>
            <a:ext cx="1645920" cy="292608"/>
          </a:xfrm>
          <a:prstGeom prst="rect">
            <a:avLst/>
          </a:prstGeom>
          <a:solidFill>
            <a:srgbClr val="243A2C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4023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classifiers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58200" y="45262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Random Forest classifier per stage using only weather features. Outputs a probability that each district-year will be risky.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never see yield data → no leakage into yield predictions.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MASTERS  ·  COTTON YIELD INTELLIGENCE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" cy="10972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·  LIMITATIONS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holding the model back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411480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394960" cy="7315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4B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 BREAK  2019 – 2021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 that broke the pattern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2286000" cy="1005840"/>
          </a:xfrm>
          <a:prstGeom prst="rect">
            <a:avLst/>
          </a:prstGeom>
          <a:solidFill>
            <a:srgbClr val="243A2C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7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stable years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 – 2018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926080"/>
            <a:ext cx="2286000" cy="1005840"/>
          </a:xfrm>
          <a:prstGeom prst="rect">
            <a:avLst/>
          </a:prstGeom>
          <a:solidFill>
            <a:srgbClr val="243A2C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3756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with disrupted years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 – 2021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1148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COVID-era disruptions and policy changes broke the historical weather–yield relationship in 2019–2021. The model can't see non-weather forces.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394960" cy="411480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828800"/>
            <a:ext cx="5394960" cy="73152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FACTORS  WE  COULD  NOT 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weather alone has a ceiling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46520" y="3063240"/>
            <a:ext cx="45720" cy="20116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5528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Nutrients (N, P, K), composition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3566160"/>
            <a:ext cx="45720" cy="20116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IRRIGATION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552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timing per district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46520" y="4069080"/>
            <a:ext cx="45720" cy="20116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552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Fertilizers, pesticides, varieties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4572000"/>
            <a:ext cx="45720" cy="20116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5528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Planting dates, farmer decisions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46520" y="5074920"/>
            <a:ext cx="45720" cy="201168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983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ECONOMICS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5528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Subsidies, prices, labour availability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C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MASTERS  ·  COTTON YIELD INTELLIGENCE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53A"/>
          </a:solidFill>
          <a:ln w="12700">
            <a:solidFill>
              <a:srgbClr val="D4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518160" y="2021840"/>
            <a:ext cx="11064240" cy="1371600"/>
          </a:xfrm>
          <a:prstGeom prst="rect">
            <a:avLst/>
          </a:prstGeom>
          <a:solidFill>
            <a:srgbClr val="1A2A1F"/>
          </a:solidFill>
          <a:ln w="12700">
            <a:solidFill>
              <a:srgbClr val="2D3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062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9600" y="2377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 data:  </a:t>
            </a:r>
            <a:r>
              <a:rPr lang="en-US" sz="1100" u="sng" dirty="0">
                <a:solidFill>
                  <a:srgbClr val="F1EFE7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open-meteo.com/en/docs/historical-weather-api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600" y="2651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Cotton data:    </a:t>
            </a:r>
            <a:r>
              <a:rPr lang="en-US" sz="1100" dirty="0">
                <a:solidFill>
                  <a:srgbClr val="F1EF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Azerbaijan State Statistical Committee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600" y="295529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repo:    </a:t>
            </a:r>
            <a:r>
              <a:rPr lang="en-US" sz="1100" u="sng" dirty="0">
                <a:solidFill>
                  <a:srgbClr val="D4A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github.com/esliehmedova/agriculture-cotton-yield-prediction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8160" y="43713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D4A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144000" y="6263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400" dirty="0">
                <a:solidFill>
                  <a:srgbClr val="9CA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1072</Words>
  <Application>Microsoft Office PowerPoint</Application>
  <PresentationFormat>Widescreen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Azerbaijan Cotton Yield Intelligence</dc:title>
  <dc:subject>PptxGenJS Presentation</dc:subject>
  <dc:creator>Risk Masters</dc:creator>
  <cp:lastModifiedBy>User</cp:lastModifiedBy>
  <cp:revision>10</cp:revision>
  <dcterms:created xsi:type="dcterms:W3CDTF">2026-05-02T17:06:26Z</dcterms:created>
  <dcterms:modified xsi:type="dcterms:W3CDTF">2026-05-03T17:35:11Z</dcterms:modified>
</cp:coreProperties>
</file>